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d4a6891-1b97-a8b3-d9b6-f5d2e4460b5f}">
          <p14:sldIdLst>
            <p14:sldId id="256"/>
            <p14:sldId id="257"/>
          </p14:sldIdLst>
        </p14:section>
        <p14:section name="Diagnostics" id="{bd9a6022-c2db-4ce2-594e-b7fa234daa41}">
          <p14:sldIdLst>
            <p14:sldId id="258"/>
          </p14:sldIdLst>
        </p14:section>
        <p14:section name="Ladder" id="{3be0c755-4c7d-77f2-4e0b-3d22046957f4}">
          <p14:sldIdLst>
            <p14:sldId id="259"/>
            <p14:sldId id="260"/>
            <p14:sldId id="261"/>
          </p14:sldIdLst>
        </p14:section>
        <p14:section name="Spacing" id="{908c54fb-9aa4-b588-30c5-45a02bb6c758}">
          <p14:sldIdLst>
            <p14:sldId id="262"/>
            <p14:sldId id="263"/>
          </p14:sldIdLst>
        </p14:section>
        <p14:section name="Close" id="{84c58cea-03b4-499c-625e-dfecca824bf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3"/>
                </a:solidFill>
                <a:latin typeface="+mn-lt"/>
              </a:rPr>
              <a:t>Share of lateral compliance (example inputs)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lateral compliance</c:v>
                </c:pt>
              </c:strCache>
            </c:strRef>
          </c:tx>
          <c:spPr>
            <a:solidFill>
              <a:srgbClr val="3E7C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Beam bending</c:v>
                  </c:pt>
                  <c:pt idx="1">
                    <c:v>Bearing tilt (L²/Kθ)</c:v>
                  </c:pt>
                  <c:pt idx="2">
                    <c:v>Bearing radial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53.2</c:v>
                </c:pt>
                <c:pt idx="1">
                  <c:v>46.6</c:v>
                </c:pt>
                <c:pt idx="2">
                  <c:v>0.2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3"/>
                </a:solidFill>
                <a:latin typeface="+mn-lt"/>
              </a:rPr>
              <a:t>First lateral mode vs bearing center spacing (example inputs)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Hand calc</c:v>
                </c:pt>
              </c:strCache>
            </c:strRef>
          </c:tx>
          <c:spPr>
            <a:solidFill>
              <a:srgbClr val="3E7C8C"/>
            </a:solidFill>
            <a:ln w="31750" cap="flat">
              <a:solidFill>
                <a:srgbClr val="3E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7C8C"/>
              </a:solidFill>
              <a:ln w="9525" cap="flat">
                <a:solidFill>
                  <a:srgbClr val="3E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0.47</c:v>
                  </c:pt>
                  <c:pt idx="1">
                    <c:v>0.71</c:v>
                  </c:pt>
                  <c:pt idx="2">
                    <c:v>0.94</c:v>
                  </c:pt>
                  <c:pt idx="3">
                    <c:v>1.18</c:v>
                  </c:pt>
                  <c:pt idx="4">
                    <c:v>1.41</c:v>
                  </c:pt>
                  <c:pt idx="5">
                    <c:v>1.65</c:v>
                  </c:pt>
                  <c:pt idx="6">
                    <c:v>1.88</c:v>
                  </c:pt>
                  <c:pt idx="7">
                    <c:v>2.12</c:v>
                  </c:pt>
                  <c:pt idx="8">
                    <c:v>2.35</c:v>
                  </c:pt>
                  <c:pt idx="9">
                    <c:v>2.59</c:v>
                  </c:pt>
                  <c:pt idx="10">
                    <c:v>2.82</c:v>
                  </c:pt>
                  <c:pt idx="11">
                    <c:v>3.06</c:v>
                  </c:pt>
                  <c:pt idx="12">
                    <c:v>3.29</c:v>
                  </c:pt>
                  <c:pt idx="13">
                    <c:v>3.53</c:v>
                  </c:pt>
                  <c:pt idx="14">
                    <c:v>3.76</c:v>
                  </c:pt>
                  <c:pt idx="15">
                    <c:v>4.00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88.2</c:v>
                </c:pt>
                <c:pt idx="1">
                  <c:v>97.6</c:v>
                </c:pt>
                <c:pt idx="2">
                  <c:v>104</c:v>
                </c:pt>
                <c:pt idx="3">
                  <c:v>108.6</c:v>
                </c:pt>
                <c:pt idx="4">
                  <c:v>111.9</c:v>
                </c:pt>
                <c:pt idx="5">
                  <c:v>114.4</c:v>
                </c:pt>
                <c:pt idx="6">
                  <c:v>116.3</c:v>
                </c:pt>
                <c:pt idx="7">
                  <c:v>117.7</c:v>
                </c:pt>
                <c:pt idx="8">
                  <c:v>118.9</c:v>
                </c:pt>
                <c:pt idx="9">
                  <c:v>119.8</c:v>
                </c:pt>
                <c:pt idx="10">
                  <c:v>120.6</c:v>
                </c:pt>
                <c:pt idx="11">
                  <c:v>121.2</c:v>
                </c:pt>
                <c:pt idx="12">
                  <c:v>121.7</c:v>
                </c:pt>
                <c:pt idx="13">
                  <c:v>122.2</c:v>
                </c:pt>
                <c:pt idx="14">
                  <c:v>122.6</c:v>
                </c:pt>
                <c:pt idx="15">
                  <c:v>122.9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Requirement</c:v>
                </c:pt>
              </c:strCache>
            </c:strRef>
          </c:tx>
          <c:spPr>
            <a:solidFill>
              <a:srgbClr val="B5523B"/>
            </a:solidFill>
            <a:ln w="31750" cap="flat">
              <a:solidFill>
                <a:srgbClr val="B55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523B"/>
              </a:solidFill>
              <a:ln w="9525" cap="flat">
                <a:solidFill>
                  <a:srgbClr val="B55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0.47</c:v>
                  </c:pt>
                  <c:pt idx="1">
                    <c:v>0.71</c:v>
                  </c:pt>
                  <c:pt idx="2">
                    <c:v>0.94</c:v>
                  </c:pt>
                  <c:pt idx="3">
                    <c:v>1.18</c:v>
                  </c:pt>
                  <c:pt idx="4">
                    <c:v>1.41</c:v>
                  </c:pt>
                  <c:pt idx="5">
                    <c:v>1.65</c:v>
                  </c:pt>
                  <c:pt idx="6">
                    <c:v>1.88</c:v>
                  </c:pt>
                  <c:pt idx="7">
                    <c:v>2.12</c:v>
                  </c:pt>
                  <c:pt idx="8">
                    <c:v>2.35</c:v>
                  </c:pt>
                  <c:pt idx="9">
                    <c:v>2.59</c:v>
                  </c:pt>
                  <c:pt idx="10">
                    <c:v>2.82</c:v>
                  </c:pt>
                  <c:pt idx="11">
                    <c:v>3.06</c:v>
                  </c:pt>
                  <c:pt idx="12">
                    <c:v>3.29</c:v>
                  </c:pt>
                  <c:pt idx="13">
                    <c:v>3.53</c:v>
                  </c:pt>
                  <c:pt idx="14">
                    <c:v>3.76</c:v>
                  </c:pt>
                  <c:pt idx="15">
                    <c:v>4.00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150</c:v>
                </c:pt>
                <c:pt idx="9">
                  <c:v>150</c:v>
                </c:pt>
                <c:pt idx="10">
                  <c:v>150</c:v>
                </c:pt>
                <c:pt idx="11">
                  <c:v>150</c:v>
                </c:pt>
                <c:pt idx="12">
                  <c:v>150</c:v>
                </c:pt>
                <c:pt idx="13">
                  <c:v>150</c:v>
                </c:pt>
                <c:pt idx="14">
                  <c:v>150</c:v>
                </c:pt>
                <c:pt idx="15">
                  <c:v>150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E2A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E2A33"/>
                    </a:solidFill>
                    <a:latin typeface="+mn-lt"/>
                  </a:rPr>
                  <a:t>Bearing center spacing (in)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60"/>
        </c:scaling>
        <c:delete val="0"/>
        <c:axPos val="l"/>
        <c:majorGridlines>
          <c:spPr>
            <a:ln w="6350" cap="flat">
              <a:solidFill>
                <a:srgbClr val="D5DB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E2A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E2A33"/>
                    </a:solidFill>
                    <a:latin typeface="+mn-lt"/>
                  </a:rPr>
                  <a:t>Hz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prove the low first mode isn't a modeling artifact before spending on stiffer bearings or geometry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curve uses placeholder inputs from the workbook. Replace with ORBIS single-bearing values and your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Bearing stiffness study 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Is the low first mode real?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Bearing stiffness modeling study: hand calcs ladder vs FEM, plus the duplex-spacing knob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Answer three questions before touching the bearing spec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moving?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Mode 1 strain energy by property. Bearings, housing, shaft, or joints.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most a bearing could buy?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Bounding runs up to rigid bearings. If rigid misses, stop chasing bearings.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my modeling method honest?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Hand-calc ladder: CBUSH, seat attachment, and pair span checked against closed forms.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Only if bearings dominate the ESE and the rigid bound clears the requirement do stiffer bearings or a wider span earn the effort.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0: diagnose the full model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 by property, mode 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718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Bearings ≥ 50%: bearing value matters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Housing ≥ 30%: geometry / seat is the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Bearings &lt; 20%: stiffer bearings won't help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 runs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40280"/>
            <a:ext cx="29718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Bearings ×0.5, ×2, ×10, rigid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 ∝ kⁿ: n ≈ 0.5 bearing-controlled, n ≈ 0 insensitive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Rigid still below req → fix structure first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hygiene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40280"/>
            <a:ext cx="29718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 and CG vs CAD (CONM2 units, NSM)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Seat RBE2 vs RBE3 swap: does mode move &gt; tol?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ORBIS preload state and double counting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Workbook tab: Diagnostics. Paste fractions and frequencies; the read-outs fill in automatically.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ladder: each FEM step has a closed-form twin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35661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Cantilever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CBAR + tip CONM2, SPC base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Checks mesh, units, mass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" cy="3200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554480"/>
            <a:ext cx="2560320" cy="35661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CBUSH at base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Pair 6-DOF diagonal, coincident nodes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Compliance split: beam / radial / tilt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3200400"/>
            <a:ext cx="228600" cy="3200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554480"/>
            <a:ext cx="2560320" cy="35661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 + bore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3a RBE2 · 3b RBE3 · 3c modeled ring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Brackets seat attachment error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15400" y="3200400"/>
            <a:ext cx="228600" cy="3200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9189720" y="15544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BEFDD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Spaced pair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 CBUSHes at load centers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Sizes the spacing knob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Compare on the same six numbers every step: lateral, axial, torsional stiffness at the mass and the matching three modes. Statics first; modal disagreements are harder to debug.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Steps 1–2: the bearing is a series spring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Lateral at the mass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1/k = L³/3EI + 1/Kr + L²/Kθ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Axial  1/k = L/EA + 1/Ka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Torsion  1/k = L/GJ + 1/Kt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 = (1/2π)√(k/m_eff),  m_eff = M + 33/140·m_beam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Kt is your motor/brake hold, not the bearing. A bearing carries ~zero torque about its spin axis.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0" y="128016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544068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tilt term carries the arm length squared. It's why tilt stiffness, and therefore pair span, usually dominates radial.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3: bracket the seat attachment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 RBE2 at bore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Rigid hub. Has a closed form, so FEM must match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2064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Upper bound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035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 RBE3 at bore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008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Bore free to ovalize. No closed form; compare to 3a FEM.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78892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Lower bound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6035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3c  Modeled outer ring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Real ring section bonded in bore. Truth sits here.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3931920"/>
            <a:ext cx="12801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2064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Between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FBEFD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78040" y="1554480"/>
            <a:ext cx="42976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Rigid-hub plate (outer edge clamped)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β = b/a,   D = Et³/12(1−ν²)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Kθ = 4πD(1+β²) / [(1+β²)ln(1/β) − (1−β²)]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= 16πD(1−β²) / a²[(1−β²)² − 4β²ln²β]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 = 4πGt / (1/b² − 1/a²)   (in-plane)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Derived from the biharmonic solution and checked by strain-energy integration. Thin plate only (t/a &lt; ~0.1).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Read: if 3a and 3b agree within tolerance, the attachment debate is over for this geometry. If they differ by 20%+, the real model needs 3c or a stiffened bore.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Set plate density to 0 in FEM: the hand calc treats the plate as massless.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4: spacing is a strong knob until it isn't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258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BEF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18120" y="1463040"/>
            <a:ext cx="3657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Pair tilt stiffness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Kθ ≈ kr·s_lc²/2 + 2kθ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s_lc = s ± dm·tanα   (+DB, −DF)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3474720"/>
            <a:ext cx="40233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Goes with span squared, so the first half-inch buys the most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Plateaus once the overhang beam or housing owns the compliance (watch the 'tilt share' column)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this example even 4 in can't reach 150 Hz: the arm is the limit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spacing costs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Preload becomes a tolerance stack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48840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Split pair → preload set by inner vs outer spacer length match. Microns of mismatch shift preload a lot.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64592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gradient eats preload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148840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Shaft/housing CTE mismatch × span changes preload over temperature. Longer span, bigger swing. Run ORBIS hot and cold.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886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becomes the limit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 bores farther apart means a longer housing tube. Its bending now sits in series with the pair.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8862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centers, not faces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4389120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DB spreads load centers outward by dm·tanα. Use ORBIS load-center span, not the drawing dimension.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Acceptance criteria and decision rules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1, 2, 3a, 4 vs hand calc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5% on k and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mesh, units, CBUSH coincidence before trusting anything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 vs 3b (RBE2 vs RBE3)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the outer ring (3c) in the real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 bearing share, mode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20% to justify bearing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on housing/geometry instead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Rigid-bearing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bearing or spacing can fix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 sweep, tilt share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clears req before tilt share &lt; ~15%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Arm/housing is the limit, not the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Tolerance and requirement are inputs in the workbook; the 20% and 15% thresholds are judgment calls, adjust to your error budget.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Run ESE and bounding runs on the full model, fill Diagnostics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Swap placeholders for ORBIS pair and single-bearing stiffness at operating preload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Build steps 1–3 in Femap, paste into FEM_Compare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If bearings own the mode: run the spacing sweep, then check preload hot and cold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ring Study">
  <a:themeElements>
    <a:clrScheme name="Bearing Study">
      <a:dk1>
        <a:srgbClr val="1E2A33"/>
      </a:dk1>
      <a:lt1>
        <a:srgbClr val="FFFFFF"/>
      </a:lt1>
      <a:dk2>
        <a:srgbClr val="2F4858"/>
      </a:dk2>
      <a:lt2>
        <a:srgbClr val="EEF1F3"/>
      </a:lt2>
      <a:accent1>
        <a:srgbClr val="D98E2B"/>
      </a:accent1>
      <a:accent2>
        <a:srgbClr val="3E7C8C"/>
      </a:accent2>
      <a:accent3>
        <a:srgbClr val="8FA3AD"/>
      </a:accent3>
      <a:accent4>
        <a:srgbClr val="B5523B"/>
      </a:accent4>
      <a:accent5>
        <a:srgbClr val="6B8F5E"/>
      </a:accent5>
      <a:accent6>
        <a:srgbClr val="5A6B78"/>
      </a:accent6>
      <a:hlink>
        <a:srgbClr val="3E7C8C"/>
      </a:hlink>
      <a:folHlink>
        <a:srgbClr val="6B8F5E"/>
      </a:folHlink>
    </a:clrScheme>
    <a:fontScheme name="Bearing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Bearing stiffness modeling study</dc:title>
  <dc:subject>PptxGenJS Presentation</dc:subject>
  <dc:creator>Rex</dc:creator>
  <cp:lastModifiedBy>Rex</cp:lastModifiedBy>
  <cp:revision>1</cp:revision>
  <dcterms:created xsi:type="dcterms:W3CDTF">2026-10-23T21:51:04Z</dcterms:created>
  <dcterms:modified xsi:type="dcterms:W3CDTF">2026-10-23T21:51:04Z</dcterms:modified>
</cp:coreProperties>
</file>