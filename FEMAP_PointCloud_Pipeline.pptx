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41248" y="3977640"/>
            <a:ext cx="10332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5D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841248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8CB"/>
                </a:solidFill>
              </a:rPr>
              <a:t>Thermal -&gt; FEMAP point-cloud pipeline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6868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spc="200" kern="0" dirty="0">
                <a:solidFill>
                  <a:srgbClr val="37D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424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890B"/>
                </a:solidFill>
              </a:rPr>
              <a:t>npz_to_3D.py  ·  show_point_cloud.bas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thermal results to a FEMAP point cloud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41248" y="39776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5D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two scripts turn a 2-D transient thermal solution into a 3-D, vertex-centered point cloud you can map and visualize on a circular mirror.</a:t>
            </a:r>
            <a:endParaRPr lang="en-US" sz="18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37D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npz_to_3D.py  (Python)   +   show_point_cloud.bas  (FEMAP API)</a:t>
            </a:r>
            <a:endParaRPr lang="en-US" sz="1800" dirty="0"/>
          </a:p>
        </p:txBody>
      </p:sp>
      <p:sp>
        <p:nvSpPr>
          <p:cNvPr id="4" name="ramp0"/>
          <p:cNvSpPr/>
          <p:nvPr/>
        </p:nvSpPr>
        <p:spPr>
          <a:xfrm>
            <a:off x="841248" y="1737360"/>
            <a:ext cx="237744" cy="237744"/>
          </a:xfrm>
          <a:prstGeom prst="ellipse">
            <a:avLst/>
          </a:prstGeom>
          <a:solidFill>
            <a:srgbClr val="37D233"/>
          </a:solidFill>
          <a:ln/>
        </p:spPr>
      </p:sp>
      <p:sp>
        <p:nvSpPr>
          <p:cNvPr id="5" name="ramp1"/>
          <p:cNvSpPr/>
          <p:nvPr/>
        </p:nvSpPr>
        <p:spPr>
          <a:xfrm>
            <a:off x="1225296" y="173736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ramp2"/>
          <p:cNvSpPr/>
          <p:nvPr/>
        </p:nvSpPr>
        <p:spPr>
          <a:xfrm>
            <a:off x="1609344" y="1737360"/>
            <a:ext cx="237744" cy="237744"/>
          </a:xfrm>
          <a:prstGeom prst="ellipse">
            <a:avLst/>
          </a:prstGeom>
          <a:solidFill>
            <a:srgbClr val="D5D8C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90B"/>
                </a:solidFill>
              </a:rPr>
              <a:t>Two inputs feed the Python mapper; its CSV feeds the FEMAP macro that draws the check.</a:t>
            </a:r>
            <a:endParaRPr lang="en-US" sz="1400" dirty="0"/>
          </a:p>
        </p:txBody>
      </p:sp>
      <p:sp>
        <p:nvSpPr>
          <p:cNvPr id="4" name="in1"/>
          <p:cNvSpPr/>
          <p:nvPr/>
        </p:nvSpPr>
        <p:spPr>
          <a:xfrm>
            <a:off x="54864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919"/>
                </a:solidFill>
              </a:rPr>
              <a:t>Thermal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91919"/>
                </a:solidFill>
              </a:rPr>
              <a:t>model1_results.npz</a:t>
            </a:r>
            <a:endParaRPr lang="en-US" sz="1300" dirty="0"/>
          </a:p>
        </p:txBody>
      </p:sp>
      <p:sp>
        <p:nvSpPr>
          <p:cNvPr id="6" name="in2"/>
          <p:cNvSpPr/>
          <p:nvPr/>
        </p:nvSpPr>
        <p:spPr>
          <a:xfrm>
            <a:off x="548640" y="32004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919"/>
                </a:solidFill>
              </a:rPr>
              <a:t>Node map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91919"/>
                </a:solidFill>
              </a:rPr>
              <a:t>model1_node_map.csv</a:t>
            </a:r>
            <a:endParaRPr lang="en-US" sz="1300" dirty="0"/>
          </a:p>
        </p:txBody>
      </p:sp>
      <p:sp>
        <p:nvSpPr>
          <p:cNvPr id="8" name="s1box"/>
          <p:cNvSpPr/>
          <p:nvPr/>
        </p:nvSpPr>
        <p:spPr>
          <a:xfrm>
            <a:off x="3794760" y="2286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94760" y="22860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npz_to_3D.py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map T -&gt; nodes, build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vertex-centered circle</a:t>
            </a:r>
            <a:endParaRPr lang="en-US" sz="1500" dirty="0"/>
          </a:p>
        </p:txBody>
      </p:sp>
      <p:sp>
        <p:nvSpPr>
          <p:cNvPr id="10" name="csvbox"/>
          <p:cNvSpPr/>
          <p:nvPr/>
        </p:nvSpPr>
        <p:spPr>
          <a:xfrm>
            <a:off x="7315200" y="251460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37D233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0" y="2514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9"/>
                </a:solidFill>
              </a:rPr>
              <a:t>x, y, z, T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91919"/>
                </a:solidFill>
              </a:rPr>
              <a:t>point-cloud table</a:t>
            </a:r>
            <a:endParaRPr lang="en-US" sz="1800" dirty="0"/>
          </a:p>
        </p:txBody>
      </p:sp>
      <p:sp>
        <p:nvSpPr>
          <p:cNvPr id="12" name="s2box"/>
          <p:cNvSpPr/>
          <p:nvPr/>
        </p:nvSpPr>
        <p:spPr>
          <a:xfrm>
            <a:off x="9601200" y="22860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0" y="22860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show_point_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cloud.bas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FEMAP points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2468880"/>
            <a:ext cx="868680" cy="274320"/>
          </a:xfrm>
          <a:prstGeom prst="line">
            <a:avLst/>
          </a:prstGeom>
          <a:noFill/>
          <a:ln w="31750">
            <a:solidFill>
              <a:srgbClr val="0089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80360" y="3657600"/>
            <a:ext cx="868680" cy="-274320"/>
          </a:xfrm>
          <a:prstGeom prst="line">
            <a:avLst/>
          </a:prstGeom>
          <a:noFill/>
          <a:ln w="31750">
            <a:solidFill>
              <a:srgbClr val="0089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3063240"/>
            <a:ext cx="777240" cy="0"/>
          </a:xfrm>
          <a:prstGeom prst="line">
            <a:avLst/>
          </a:prstGeom>
          <a:noFill/>
          <a:ln w="31750">
            <a:solidFill>
              <a:srgbClr val="19191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64040" y="3063240"/>
            <a:ext cx="91440" cy="0"/>
          </a:xfrm>
          <a:prstGeom prst="line">
            <a:avLst/>
          </a:prstGeom>
          <a:noFill/>
          <a:ln w="31750">
            <a:solidFill>
              <a:srgbClr val="191919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890B"/>
                </a:solidFill>
              </a:rPr>
              <a:t>Result in FEMAP: geometry Points overlaid on the mirror model for a spatial sanity check.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Output flavors: a dense analysis cloud (~37k pts) and a fast viz skeleton (~600 pts).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6868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37D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1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npz_to_3D.py  —  build the point cloud</a:t>
            </a:r>
            <a:endParaRPr lang="en-US" sz="3600" dirty="0"/>
          </a:p>
        </p:txBody>
      </p:sp>
      <p:sp>
        <p:nvSpPr>
          <p:cNvPr id="4" name="sramp0"/>
          <p:cNvSpPr/>
          <p:nvPr/>
        </p:nvSpPr>
        <p:spPr>
          <a:xfrm>
            <a:off x="868680" y="4526280"/>
            <a:ext cx="237744" cy="237744"/>
          </a:xfrm>
          <a:prstGeom prst="ellipse">
            <a:avLst/>
          </a:prstGeom>
          <a:solidFill>
            <a:srgbClr val="37D233"/>
          </a:solidFill>
          <a:ln/>
        </p:spPr>
      </p:sp>
      <p:sp>
        <p:nvSpPr>
          <p:cNvPr id="5" name="sramp1"/>
          <p:cNvSpPr/>
          <p:nvPr/>
        </p:nvSpPr>
        <p:spPr>
          <a:xfrm>
            <a:off x="1252728" y="452628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ramp2"/>
          <p:cNvSpPr/>
          <p:nvPr/>
        </p:nvSpPr>
        <p:spPr>
          <a:xfrm>
            <a:off x="1636776" y="4526280"/>
            <a:ext cx="237744" cy="237744"/>
          </a:xfrm>
          <a:prstGeom prst="ellipse">
            <a:avLst/>
          </a:prstGeom>
          <a:solidFill>
            <a:srgbClr val="D5D8C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What npz_to_3D.py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90B"/>
                </a:solidFill>
              </a:rPr>
              <a:t>Reads a transient thermal result and a node map, then writes a 3-D point cloud for one mirror at one time step.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890B"/>
                </a:solidFill>
              </a:rPr>
              <a:t>INPUTS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890B"/>
                </a:solidFill>
              </a:rPr>
              <a:t>OUTPUTS</a:t>
            </a:r>
            <a:endParaRPr lang="en-US" sz="1400" dirty="0"/>
          </a:p>
        </p:txBody>
      </p:sp>
      <p:sp>
        <p:nvSpPr>
          <p:cNvPr id="6" name="inA"/>
          <p:cNvSpPr/>
          <p:nvPr/>
        </p:nvSpPr>
        <p:spPr>
          <a:xfrm>
            <a:off x="548640" y="2286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450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1919"/>
                </a:solidFill>
              </a:rPr>
              <a:t>Node map (.csv)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5292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</a:rPr>
              <a:t>Cell centroids per plate: x_m, z_m, dx_m, dz_m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</a:rPr>
              <a:t>11 plates x 50 nodes (5 wide x 10 deep)</a:t>
            </a:r>
            <a:endParaRPr lang="en-US" sz="1250" dirty="0"/>
          </a:p>
        </p:txBody>
      </p:sp>
      <p:sp>
        <p:nvSpPr>
          <p:cNvPr id="9" name="inB"/>
          <p:cNvSpPr/>
          <p:nvPr/>
        </p:nvSpPr>
        <p:spPr>
          <a:xfrm>
            <a:off x="548640" y="3840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1919"/>
                </a:solidFill>
              </a:rPr>
              <a:t>Thermal results (.npz)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074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</a:rPr>
              <a:t>T[timestep, node]  = 773 x 550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</a:rPr>
              <a:t>t (time) and node_names arrays</a:t>
            </a:r>
            <a:endParaRPr lang="en-US" sz="1250" dirty="0"/>
          </a:p>
        </p:txBody>
      </p:sp>
      <p:sp>
        <p:nvSpPr>
          <p:cNvPr id="12" name="outA"/>
          <p:cNvSpPr/>
          <p:nvPr/>
        </p:nvSpPr>
        <p:spPr>
          <a:xfrm>
            <a:off x="6309360" y="22860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2450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1919"/>
                </a:solidFill>
              </a:rPr>
              <a:t>Dense analysis cloud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5292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</a:rPr>
              <a:t>Regular grid, clipped to the disk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</a:rPr>
              <a:t>&lt;Mirror&gt;_MirrorCloud3D_&lt;t&gt;s.csv  (~37k pts)</a:t>
            </a:r>
            <a:endParaRPr lang="en-US" sz="1250" dirty="0"/>
          </a:p>
        </p:txBody>
      </p:sp>
      <p:sp>
        <p:nvSpPr>
          <p:cNvPr id="15" name="outB"/>
          <p:cNvSpPr/>
          <p:nvPr/>
        </p:nvSpPr>
        <p:spPr>
          <a:xfrm>
            <a:off x="6309360" y="38404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4005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1919"/>
                </a:solidFill>
              </a:rPr>
              <a:t>Viz skeleton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4074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</a:rPr>
              <a:t>Rim ring + a few rows/cols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</a:rPr>
              <a:t>&lt;Mirror&gt;_VizSkeleton_&lt;t&gt;s.csv  (~600 pts)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0890B"/>
                </a:solidFill>
              </a:rPr>
              <a:t>Columns are always  x, y, z, T  — the table FEMAP reads as an arbitrary 3-D scalar map.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it reads</a:t>
            </a:r>
            <a:endParaRPr lang="en-US" sz="3000" dirty="0"/>
          </a:p>
        </p:txBody>
      </p:sp>
      <p:sp>
        <p:nvSpPr>
          <p:cNvPr id="3" name="nmCard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1919"/>
                </a:solidFill>
              </a:rPr>
              <a:t>Node map — geometry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Each row = a cell centroid with its size.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x = in-plane (uniform spacing dx).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z = through-thickness (fine near the surface).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Grouped by plate (mirror) name.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92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91919"/>
                </a:solidFill>
              </a:rPr>
              <a:t>node_name links each row to its temperature column by NAME — robust even if ordering changes.</a:t>
            </a:r>
            <a:endParaRPr lang="en-US" sz="1250" dirty="0"/>
          </a:p>
        </p:txBody>
      </p:sp>
      <p:sp>
        <p:nvSpPr>
          <p:cNvPr id="7" name="npzCard"/>
          <p:cNvSpPr/>
          <p:nvPr/>
        </p:nvSpPr>
        <p:spPr>
          <a:xfrm>
            <a:off x="630936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554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(.npz) — temperatures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773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D233"/>
                </a:solidFill>
              </a:rPr>
              <a:t>time steps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550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D233"/>
                </a:solidFill>
              </a:rPr>
              <a:t>nodes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  = [timestep, node]  scalar field.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 chosen time snaps to the nearest step.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 is mapped onto the matching node name.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idea: map the strip onto a centered disk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90B"/>
                </a:solidFill>
              </a:rPr>
              <a:t>1.  Rescale x to the true diameter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91919"/>
                </a:solidFill>
              </a:rPr>
              <a:t>The mesh describes the shape of the field; x is scaled to the mirror's physical diameter 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890B"/>
                </a:solidFill>
              </a:rPr>
              <a:t>2.  Center on the vertex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91919"/>
                </a:solidFill>
              </a:rPr>
              <a:t>x_c = (x_m / X_mesh) * L - R, so the origin sits at the mirror vertex (0,0). R = L / 2.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890B"/>
                </a:solidFill>
              </a:rPr>
              <a:t>3.  Sweep y, clip to the circle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1919"/>
                </a:solidFill>
              </a:rPr>
              <a:t>T is uniform in y, so keep points where x^2 + y^2 &lt;= R^2; each takes T from its x.</a:t>
            </a:r>
            <a:endParaRPr lang="en-US" sz="1400" dirty="0"/>
          </a:p>
        </p:txBody>
      </p:sp>
      <p:sp>
        <p:nvSpPr>
          <p:cNvPr id="4" name="disk"/>
          <p:cNvSpPr/>
          <p:nvPr/>
        </p:nvSpPr>
        <p:spPr>
          <a:xfrm>
            <a:off x="7406640" y="1828800"/>
            <a:ext cx="3474720" cy="3474720"/>
          </a:xfrm>
          <a:prstGeom prst="ellipse">
            <a:avLst/>
          </a:prstGeom>
          <a:solidFill>
            <a:srgbClr val="D5D8CB"/>
          </a:solidFill>
          <a:ln w="19050">
            <a:solidFill>
              <a:srgbClr val="00890B"/>
            </a:solidFill>
            <a:prstDash val="solid"/>
          </a:ln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5" name="tr0"/>
          <p:cNvSpPr/>
          <p:nvPr/>
        </p:nvSpPr>
        <p:spPr>
          <a:xfrm>
            <a:off x="7452360" y="3108960"/>
            <a:ext cx="237744" cy="237744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6" name="tr1"/>
          <p:cNvSpPr/>
          <p:nvPr/>
        </p:nvSpPr>
        <p:spPr>
          <a:xfrm>
            <a:off x="8238744" y="3108960"/>
            <a:ext cx="237744" cy="237744"/>
          </a:xfrm>
          <a:prstGeom prst="ellipse">
            <a:avLst/>
          </a:prstGeom>
          <a:solidFill>
            <a:srgbClr val="2E6E22"/>
          </a:solidFill>
          <a:ln/>
        </p:spPr>
      </p:sp>
      <p:sp>
        <p:nvSpPr>
          <p:cNvPr id="7" name="tr2"/>
          <p:cNvSpPr/>
          <p:nvPr/>
        </p:nvSpPr>
        <p:spPr>
          <a:xfrm>
            <a:off x="9025128" y="3108960"/>
            <a:ext cx="237744" cy="237744"/>
          </a:xfrm>
          <a:prstGeom prst="ellipse">
            <a:avLst/>
          </a:prstGeom>
          <a:solidFill>
            <a:srgbClr val="00890B"/>
          </a:solidFill>
          <a:ln/>
        </p:spPr>
      </p:sp>
      <p:sp>
        <p:nvSpPr>
          <p:cNvPr id="8" name="tr3"/>
          <p:cNvSpPr/>
          <p:nvPr/>
        </p:nvSpPr>
        <p:spPr>
          <a:xfrm>
            <a:off x="9811512" y="3108960"/>
            <a:ext cx="237744" cy="237744"/>
          </a:xfrm>
          <a:prstGeom prst="ellipse">
            <a:avLst/>
          </a:prstGeom>
          <a:solidFill>
            <a:srgbClr val="1FA81C"/>
          </a:solidFill>
          <a:ln/>
        </p:spPr>
      </p:sp>
      <p:sp>
        <p:nvSpPr>
          <p:cNvPr id="9" name="tr4"/>
          <p:cNvSpPr/>
          <p:nvPr/>
        </p:nvSpPr>
        <p:spPr>
          <a:xfrm>
            <a:off x="10597896" y="3108960"/>
            <a:ext cx="237744" cy="237744"/>
          </a:xfrm>
          <a:prstGeom prst="ellipse">
            <a:avLst/>
          </a:prstGeom>
          <a:solidFill>
            <a:srgbClr val="37D233"/>
          </a:solidFill>
          <a:ln/>
        </p:spPr>
      </p:sp>
      <p:sp>
        <p:nvSpPr>
          <p:cNvPr id="10" name="vtx"/>
          <p:cNvSpPr/>
          <p:nvPr/>
        </p:nvSpPr>
        <p:spPr>
          <a:xfrm>
            <a:off x="9079992" y="3502152"/>
            <a:ext cx="128016" cy="128016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0" y="3566160"/>
            <a:ext cx="2057400" cy="0"/>
          </a:xfrm>
          <a:prstGeom prst="line">
            <a:avLst/>
          </a:prstGeom>
          <a:noFill/>
          <a:ln w="19050">
            <a:solidFill>
              <a:srgbClr val="19191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0" y="3566160"/>
            <a:ext cx="0" cy="-2057400"/>
          </a:xfrm>
          <a:prstGeom prst="line">
            <a:avLst/>
          </a:prstGeom>
          <a:noFill/>
          <a:ln w="19050">
            <a:solidFill>
              <a:srgbClr val="191919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1064240" y="3474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</a:rPr>
              <a:t>x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</a:rPr>
              <a:t>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91919"/>
                </a:solidFill>
              </a:rPr>
              <a:t>vertex (0,0)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5440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890B"/>
                </a:solidFill>
              </a:rPr>
              <a:t>T varies across x, uniform in 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Two clouds from one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90B"/>
                </a:solidFill>
              </a:rPr>
              <a:t>Same geometry and temperatures — different sampling for different jobs.</a:t>
            </a:r>
            <a:endParaRPr lang="en-US" sz="1400" dirty="0"/>
          </a:p>
        </p:txBody>
      </p:sp>
      <p:sp>
        <p:nvSpPr>
          <p:cNvPr id="4" name="denseCard"/>
          <p:cNvSpPr/>
          <p:nvPr/>
        </p:nvSpPr>
        <p:spPr>
          <a:xfrm>
            <a:off x="548640" y="18288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5" name="circle_D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91919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1919"/>
                </a:solidFill>
              </a:rPr>
              <a:t>Dense analysis cloud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91919"/>
                </a:solidFill>
              </a:rPr>
              <a:t>~37k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points (M1 @ 0.25 in)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0233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Regular grid, clipped to the disk.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For the real scalar map in FEMAP.</a:t>
            </a:r>
            <a:endParaRPr lang="en-US" sz="1300" dirty="0"/>
          </a:p>
        </p:txBody>
      </p:sp>
      <p:sp>
        <p:nvSpPr>
          <p:cNvPr id="11" name="skelCard"/>
          <p:cNvSpPr/>
          <p:nvPr/>
        </p:nvSpPr>
        <p:spPr>
          <a:xfrm>
            <a:off x="6309360" y="182880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2" name="circle_S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37D233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Viz skeleton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834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~600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D233"/>
                </a:solidFill>
              </a:rPr>
              <a:t>points (rim + rows/cols)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0233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Outer rim + a few rows and columns.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Plots instantly for the geometry check.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fail loud — never a bad file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90B"/>
                </a:solidFill>
              </a:rPr>
              <a:t>Every check runs before anything is written. On any failure: a clear message and no CSV.</a:t>
            </a:r>
            <a:endParaRPr lang="en-US" sz="1400" dirty="0"/>
          </a:p>
        </p:txBody>
      </p:sp>
      <p:sp>
        <p:nvSpPr>
          <p:cNvPr id="4" name="chk0"/>
          <p:cNvSpPr/>
          <p:nvPr/>
        </p:nvSpPr>
        <p:spPr>
          <a:xfrm>
            <a:off x="548640" y="192024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5" name="circle_1"/>
          <p:cNvSpPr/>
          <p:nvPr/>
        </p:nvSpPr>
        <p:spPr>
          <a:xfrm>
            <a:off x="804672" y="2194560"/>
            <a:ext cx="502920" cy="502920"/>
          </a:xfrm>
          <a:prstGeom prst="ellipse">
            <a:avLst/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1284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Mirror only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3464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M1-M7 accepted; others rejected by name</a:t>
            </a:r>
            <a:endParaRPr lang="en-US" sz="1200" dirty="0"/>
          </a:p>
        </p:txBody>
      </p:sp>
      <p:sp>
        <p:nvSpPr>
          <p:cNvPr id="9" name="chk1"/>
          <p:cNvSpPr/>
          <p:nvPr/>
        </p:nvSpPr>
        <p:spPr>
          <a:xfrm>
            <a:off x="4233672" y="192024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0" name="circle_2"/>
          <p:cNvSpPr/>
          <p:nvPr/>
        </p:nvSpPr>
        <p:spPr>
          <a:xfrm>
            <a:off x="4489704" y="2194560"/>
            <a:ext cx="502920" cy="502920"/>
          </a:xfrm>
          <a:prstGeom prst="ellipse">
            <a:avLst/>
          </a:prstGeom>
          <a:solidFill>
            <a:srgbClr val="191919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8970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221284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Names resolve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283464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every node maps to a T column</a:t>
            </a:r>
            <a:endParaRPr lang="en-US" sz="1200" dirty="0"/>
          </a:p>
        </p:txBody>
      </p:sp>
      <p:sp>
        <p:nvSpPr>
          <p:cNvPr id="14" name="chk2"/>
          <p:cNvSpPr/>
          <p:nvPr/>
        </p:nvSpPr>
        <p:spPr>
          <a:xfrm>
            <a:off x="7918704" y="192024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5" name="circle_3"/>
          <p:cNvSpPr/>
          <p:nvPr/>
        </p:nvSpPr>
        <p:spPr>
          <a:xfrm>
            <a:off x="8174736" y="2194560"/>
            <a:ext cx="502920" cy="502920"/>
          </a:xfrm>
          <a:prstGeom prst="ellipse">
            <a:avLst/>
          </a:prstGeom>
          <a:solidFill>
            <a:srgbClr val="37D233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17473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33104" y="221284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Uniform dx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283464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the rescale assumption is verified</a:t>
            </a:r>
            <a:endParaRPr lang="en-US" sz="1200" dirty="0"/>
          </a:p>
        </p:txBody>
      </p:sp>
      <p:sp>
        <p:nvSpPr>
          <p:cNvPr id="19" name="chk3"/>
          <p:cNvSpPr/>
          <p:nvPr/>
        </p:nvSpPr>
        <p:spPr>
          <a:xfrm>
            <a:off x="548640" y="384048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20" name="circle_4"/>
          <p:cNvSpPr/>
          <p:nvPr/>
        </p:nvSpPr>
        <p:spPr>
          <a:xfrm>
            <a:off x="804672" y="4114800"/>
            <a:ext cx="502920" cy="502920"/>
          </a:xfrm>
          <a:prstGeom prst="ellipse">
            <a:avLst/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4672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13308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No NaN / inf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75488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temperatures and coordinates are finite</a:t>
            </a:r>
            <a:endParaRPr lang="en-US" sz="1200" dirty="0"/>
          </a:p>
        </p:txBody>
      </p:sp>
      <p:sp>
        <p:nvSpPr>
          <p:cNvPr id="24" name="chk4"/>
          <p:cNvSpPr/>
          <p:nvPr/>
        </p:nvSpPr>
        <p:spPr>
          <a:xfrm>
            <a:off x="4233672" y="384048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25" name="circle_5"/>
          <p:cNvSpPr/>
          <p:nvPr/>
        </p:nvSpPr>
        <p:spPr>
          <a:xfrm>
            <a:off x="4489704" y="4114800"/>
            <a:ext cx="502920" cy="502920"/>
          </a:xfrm>
          <a:prstGeom prst="ellipse">
            <a:avLst/>
          </a:prstGeom>
          <a:solidFill>
            <a:srgbClr val="191919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489704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148072" y="413308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Inside the disk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489704" y="475488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x^2 + y^2 &lt;= R^2 for every point</a:t>
            </a:r>
            <a:endParaRPr lang="en-US" sz="1200" dirty="0"/>
          </a:p>
        </p:txBody>
      </p:sp>
      <p:sp>
        <p:nvSpPr>
          <p:cNvPr id="29" name="chk5"/>
          <p:cNvSpPr/>
          <p:nvPr/>
        </p:nvSpPr>
        <p:spPr>
          <a:xfrm>
            <a:off x="7918704" y="384048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30" name="circle_6"/>
          <p:cNvSpPr/>
          <p:nvPr/>
        </p:nvSpPr>
        <p:spPr>
          <a:xfrm>
            <a:off x="8174736" y="4114800"/>
            <a:ext cx="502920" cy="502920"/>
          </a:xfrm>
          <a:prstGeom prst="ellipse">
            <a:avLst/>
          </a:prstGeom>
          <a:solidFill>
            <a:srgbClr val="37D233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174736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833104" y="413308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Centered + deduped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174736" y="475488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origin on the vertex; no coincident points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npz_to_3D.py</a:t>
            </a:r>
            <a:endParaRPr lang="en-US" sz="3000" dirty="0"/>
          </a:p>
        </p:txBody>
      </p:sp>
      <p:sp>
        <p:nvSpPr>
          <p:cNvPr id="3" name="circle_1"/>
          <p:cNvSpPr/>
          <p:nvPr/>
        </p:nvSpPr>
        <p:spPr>
          <a:xfrm>
            <a:off x="640080" y="1554480"/>
            <a:ext cx="530352" cy="530352"/>
          </a:xfrm>
          <a:prstGeom prst="ellipse">
            <a:avLst/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</a:rPr>
              <a:t>Pick the node map .csv</a:t>
            </a:r>
            <a:endParaRPr lang="en-US" sz="1500" dirty="0"/>
          </a:p>
        </p:txBody>
      </p:sp>
      <p:sp>
        <p:nvSpPr>
          <p:cNvPr id="6" name="circle_2"/>
          <p:cNvSpPr/>
          <p:nvPr/>
        </p:nvSpPr>
        <p:spPr>
          <a:xfrm>
            <a:off x="640080" y="2304288"/>
            <a:ext cx="530352" cy="530352"/>
          </a:xfrm>
          <a:prstGeom prst="ellipse">
            <a:avLst/>
          </a:prstGeom>
          <a:solidFill>
            <a:srgbClr val="191919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304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042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</a:rPr>
              <a:t>Pick the results .npz</a:t>
            </a:r>
            <a:endParaRPr lang="en-US" sz="1500" dirty="0"/>
          </a:p>
        </p:txBody>
      </p:sp>
      <p:sp>
        <p:nvSpPr>
          <p:cNvPr id="9" name="circle_3"/>
          <p:cNvSpPr/>
          <p:nvPr/>
        </p:nvSpPr>
        <p:spPr>
          <a:xfrm>
            <a:off x="640080" y="3054096"/>
            <a:ext cx="530352" cy="530352"/>
          </a:xfrm>
          <a:prstGeom prst="ellipse">
            <a:avLst/>
          </a:prstGeom>
          <a:solidFill>
            <a:srgbClr val="37D233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5409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</a:rPr>
              <a:t>Choose output: dense / skeleton / both</a:t>
            </a:r>
            <a:endParaRPr lang="en-US" sz="1500" dirty="0"/>
          </a:p>
        </p:txBody>
      </p:sp>
      <p:sp>
        <p:nvSpPr>
          <p:cNvPr id="12" name="circle_4"/>
          <p:cNvSpPr/>
          <p:nvPr/>
        </p:nvSpPr>
        <p:spPr>
          <a:xfrm>
            <a:off x="640080" y="3803904"/>
            <a:ext cx="530352" cy="530352"/>
          </a:xfrm>
          <a:prstGeom prst="ellipse">
            <a:avLst/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0390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</a:rPr>
              <a:t>Enter the time (seconds)</a:t>
            </a:r>
            <a:endParaRPr lang="en-US" sz="1500" dirty="0"/>
          </a:p>
        </p:txBody>
      </p:sp>
      <p:sp>
        <p:nvSpPr>
          <p:cNvPr id="15" name="circle_5"/>
          <p:cNvSpPr/>
          <p:nvPr/>
        </p:nvSpPr>
        <p:spPr>
          <a:xfrm>
            <a:off x="640080" y="4553712"/>
            <a:ext cx="530352" cy="530352"/>
          </a:xfrm>
          <a:prstGeom prst="ellipse">
            <a:avLst/>
          </a:prstGeom>
          <a:solidFill>
            <a:srgbClr val="191919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4553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55371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</a:rPr>
              <a:t>Type the mirror (e.g. M1)</a:t>
            </a:r>
            <a:endParaRPr lang="en-US" sz="1500" dirty="0"/>
          </a:p>
        </p:txBody>
      </p:sp>
      <p:sp>
        <p:nvSpPr>
          <p:cNvPr id="18" name="circle_6"/>
          <p:cNvSpPr/>
          <p:nvPr/>
        </p:nvSpPr>
        <p:spPr>
          <a:xfrm>
            <a:off x="640080" y="5303520"/>
            <a:ext cx="530352" cy="530352"/>
          </a:xfrm>
          <a:prstGeom prst="ellipse">
            <a:avLst/>
          </a:prstGeom>
          <a:solidFill>
            <a:srgbClr val="37D233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5303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30352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91919"/>
                </a:solidFill>
              </a:rPr>
              <a:t>Choose the output folder</a:t>
            </a:r>
            <a:endParaRPr lang="en-US" sz="1500" dirty="0"/>
          </a:p>
        </p:txBody>
      </p:sp>
      <p:sp>
        <p:nvSpPr>
          <p:cNvPr id="21" name="resCard"/>
          <p:cNvSpPr/>
          <p:nvPr/>
        </p:nvSpPr>
        <p:spPr>
          <a:xfrm>
            <a:off x="7406640" y="173736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809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D233"/>
                </a:solidFill>
              </a:rPr>
              <a:t>You get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3774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4-column CSV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x, y, z, T  in inches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+ a summary</a:t>
            </a:r>
            <a:endParaRPr lang="en-US" sz="15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diameter, radius, point count, bounding box, T range, and any mesh-vs-CAD mismatch.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6868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37D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2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show_point_cloud.bas  —  see it in FEMAP</a:t>
            </a:r>
            <a:endParaRPr lang="en-US" sz="3600" dirty="0"/>
          </a:p>
        </p:txBody>
      </p:sp>
      <p:sp>
        <p:nvSpPr>
          <p:cNvPr id="4" name="s2ramp0"/>
          <p:cNvSpPr/>
          <p:nvPr/>
        </p:nvSpPr>
        <p:spPr>
          <a:xfrm>
            <a:off x="868680" y="4526280"/>
            <a:ext cx="237744" cy="237744"/>
          </a:xfrm>
          <a:prstGeom prst="ellipse">
            <a:avLst/>
          </a:prstGeom>
          <a:solidFill>
            <a:srgbClr val="37D233"/>
          </a:solidFill>
          <a:ln/>
        </p:spPr>
      </p:sp>
      <p:sp>
        <p:nvSpPr>
          <p:cNvPr id="5" name="s2ramp1"/>
          <p:cNvSpPr/>
          <p:nvPr/>
        </p:nvSpPr>
        <p:spPr>
          <a:xfrm>
            <a:off x="1252728" y="452628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2ramp2"/>
          <p:cNvSpPr/>
          <p:nvPr/>
        </p:nvSpPr>
        <p:spPr>
          <a:xfrm>
            <a:off x="1636776" y="4526280"/>
            <a:ext cx="237744" cy="237744"/>
          </a:xfrm>
          <a:prstGeom prst="ellipse">
            <a:avLst/>
          </a:prstGeom>
          <a:solidFill>
            <a:srgbClr val="D5D8C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What show_point_cloud.bas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90B"/>
                </a:solidFill>
              </a:rPr>
              <a:t>A FEMAP API macro that drops the cloud in as geometry Points — a placement check, one color.</a:t>
            </a:r>
            <a:endParaRPr lang="en-US" sz="1400" dirty="0"/>
          </a:p>
        </p:txBody>
      </p:sp>
      <p:sp>
        <p:nvSpPr>
          <p:cNvPr id="4" name="circle_1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64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Reads x,y,z,T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7647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890B"/>
                </a:solidFill>
              </a:rPr>
              <a:t>any delimiter; header and bad lines skipped; the T column is ignored</a:t>
            </a:r>
            <a:endParaRPr lang="en-US" sz="1300" dirty="0"/>
          </a:p>
        </p:txBody>
      </p:sp>
      <p:sp>
        <p:nvSpPr>
          <p:cNvPr id="8" name="circle_2"/>
          <p:cNvSpPr/>
          <p:nvPr/>
        </p:nvSpPr>
        <p:spPr>
          <a:xfrm>
            <a:off x="640080" y="2807208"/>
            <a:ext cx="548640" cy="548640"/>
          </a:xfrm>
          <a:prstGeom prst="ellipse">
            <a:avLst/>
          </a:prstGeom>
          <a:solidFill>
            <a:srgbClr val="191919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Places Points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889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890B"/>
                </a:solidFill>
              </a:rPr>
              <a:t>one per row, single color, on their own layer (toggle in Visibility)</a:t>
            </a:r>
            <a:endParaRPr lang="en-US" sz="1300" dirty="0"/>
          </a:p>
        </p:txBody>
      </p:sp>
      <p:sp>
        <p:nvSpPr>
          <p:cNvPr id="12" name="circle_3"/>
          <p:cNvSpPr/>
          <p:nvPr/>
        </p:nvSpPr>
        <p:spPr>
          <a:xfrm>
            <a:off x="640080" y="3831336"/>
            <a:ext cx="548640" cy="548640"/>
          </a:xfrm>
          <a:prstGeom prst="ellipse">
            <a:avLst/>
          </a:prstGeom>
          <a:solidFill>
            <a:srgbClr val="37D233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13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No re-mapping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813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890B"/>
                </a:solidFill>
              </a:rPr>
              <a:t>the cloud is already centered and circular from Python</a:t>
            </a:r>
            <a:endParaRPr lang="en-US" sz="1300" dirty="0"/>
          </a:p>
        </p:txBody>
      </p:sp>
      <p:sp>
        <p:nvSpPr>
          <p:cNvPr id="16" name="circle_4"/>
          <p:cNvSpPr/>
          <p:nvPr/>
        </p:nvSpPr>
        <p:spPr>
          <a:xfrm>
            <a:off x="640080" y="4855464"/>
            <a:ext cx="548640" cy="548640"/>
          </a:xfrm>
          <a:prstGeom prst="ellipse">
            <a:avLst/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371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Safe by default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837176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890B"/>
                </a:solidFill>
              </a:rPr>
              <a:t>NextEmptyID never overwrites existing geometry; AppLock keeps it fast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the cloud on the real mirror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90B"/>
                </a:solidFill>
              </a:rPr>
              <a:t>The CSV is in the mirror-LOCAL frame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91919"/>
                </a:solidFill>
              </a:rPr>
              <a:t>Origin at the vertex, +Z along the optical axis — exactly how Python built it.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890B"/>
                </a:solidFill>
              </a:rPr>
              <a:t>You enter the mirror's CSys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91919"/>
                </a:solidFill>
              </a:rPr>
              <a:t>The macro transforms each local x,y,z to global with feCoordTransform, so the cloud sits on the right mirror in the right orientation.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890B"/>
                </a:solidFill>
              </a:rPr>
              <a:t>Must be rectangular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1919"/>
                </a:solidFill>
              </a:rPr>
              <a:t>Checked before anything is created; 0 = global.</a:t>
            </a:r>
            <a:endParaRPr lang="en-US" sz="1400" dirty="0"/>
          </a:p>
        </p:txBody>
      </p:sp>
      <p:sp>
        <p:nvSpPr>
          <p:cNvPr id="4" name="lvtx"/>
          <p:cNvSpPr/>
          <p:nvPr/>
        </p:nvSpPr>
        <p:spPr>
          <a:xfrm>
            <a:off x="7607808" y="3767328"/>
            <a:ext cx="146304" cy="146304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0" y="3840480"/>
            <a:ext cx="1188720" cy="-457200"/>
          </a:xfrm>
          <a:prstGeom prst="line">
            <a:avLst/>
          </a:prstGeom>
          <a:noFill/>
          <a:ln w="31750">
            <a:solidFill>
              <a:srgbClr val="00890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680960" y="3840480"/>
            <a:ext cx="182880" cy="-1280160"/>
          </a:xfrm>
          <a:prstGeom prst="line">
            <a:avLst/>
          </a:prstGeom>
          <a:noFill/>
          <a:ln w="31750">
            <a:solidFill>
              <a:srgbClr val="00890B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713232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919"/>
                </a:solidFill>
              </a:rPr>
              <a:t>mirror-local CSys</a:t>
            </a:r>
            <a:endParaRPr lang="en-US" sz="1100" dirty="0"/>
          </a:p>
        </p:txBody>
      </p:sp>
      <p:sp>
        <p:nvSpPr>
          <p:cNvPr id="8" name="globBox"/>
          <p:cNvSpPr/>
          <p:nvPr/>
        </p:nvSpPr>
        <p:spPr>
          <a:xfrm>
            <a:off x="9601200" y="3383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52560" y="3657600"/>
            <a:ext cx="502920" cy="0"/>
          </a:xfrm>
          <a:prstGeom prst="line">
            <a:avLst/>
          </a:prstGeom>
          <a:noFill/>
          <a:ln w="31750">
            <a:solidFill>
              <a:srgbClr val="191919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95528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890B"/>
                </a:solidFill>
              </a:rPr>
              <a:t>feCoordTransform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it in FEMAP</a:t>
            </a:r>
            <a:endParaRPr lang="en-US" sz="3000" dirty="0"/>
          </a:p>
        </p:txBody>
      </p:sp>
      <p:sp>
        <p:nvSpPr>
          <p:cNvPr id="3" name="circle_1"/>
          <p:cNvSpPr/>
          <p:nvPr/>
        </p:nvSpPr>
        <p:spPr>
          <a:xfrm>
            <a:off x="640080" y="1645920"/>
            <a:ext cx="530352" cy="530352"/>
          </a:xfrm>
          <a:prstGeom prst="ellipse">
            <a:avLst/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4592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91919"/>
                </a:solidFill>
              </a:rPr>
              <a:t>File &gt; Programming &gt; API (Ctrl+F11), paste, Run</a:t>
            </a:r>
            <a:endParaRPr lang="en-US" sz="1450" dirty="0"/>
          </a:p>
        </p:txBody>
      </p:sp>
      <p:sp>
        <p:nvSpPr>
          <p:cNvPr id="6" name="circle_2"/>
          <p:cNvSpPr/>
          <p:nvPr/>
        </p:nvSpPr>
        <p:spPr>
          <a:xfrm>
            <a:off x="640080" y="2514600"/>
            <a:ext cx="530352" cy="530352"/>
          </a:xfrm>
          <a:prstGeom prst="ellipse">
            <a:avLst/>
          </a:prstGeom>
          <a:solidFill>
            <a:srgbClr val="191919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1460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91919"/>
                </a:solidFill>
              </a:rPr>
              <a:t>Enter the path to the x,y,z,T file</a:t>
            </a:r>
            <a:endParaRPr lang="en-US" sz="1450" dirty="0"/>
          </a:p>
        </p:txBody>
      </p:sp>
      <p:sp>
        <p:nvSpPr>
          <p:cNvPr id="9" name="circle_3"/>
          <p:cNvSpPr/>
          <p:nvPr/>
        </p:nvSpPr>
        <p:spPr>
          <a:xfrm>
            <a:off x="640080" y="3383280"/>
            <a:ext cx="530352" cy="530352"/>
          </a:xfrm>
          <a:prstGeom prst="ellipse">
            <a:avLst/>
          </a:prstGeom>
          <a:solidFill>
            <a:srgbClr val="37D233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3383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8328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91919"/>
                </a:solidFill>
              </a:rPr>
              <a:t>Enter the mirror's CSys ID (0 = global)</a:t>
            </a:r>
            <a:endParaRPr lang="en-US" sz="1450" dirty="0"/>
          </a:p>
        </p:txBody>
      </p:sp>
      <p:sp>
        <p:nvSpPr>
          <p:cNvPr id="12" name="circle_4"/>
          <p:cNvSpPr/>
          <p:nvPr/>
        </p:nvSpPr>
        <p:spPr>
          <a:xfrm>
            <a:off x="640080" y="4251960"/>
            <a:ext cx="530352" cy="530352"/>
          </a:xfrm>
          <a:prstGeom prst="ellipse">
            <a:avLst/>
          </a:prstGeom>
          <a:solidFill>
            <a:srgbClr val="00890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4251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5196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91919"/>
                </a:solidFill>
              </a:rPr>
              <a:t>Points appear on layer 9100</a:t>
            </a:r>
            <a:endParaRPr lang="en-US" sz="1450" dirty="0"/>
          </a:p>
        </p:txBody>
      </p:sp>
      <p:sp>
        <p:nvSpPr>
          <p:cNvPr id="15" name="set2"/>
          <p:cNvSpPr/>
          <p:nvPr/>
        </p:nvSpPr>
        <p:spPr>
          <a:xfrm>
            <a:off x="7498080" y="173736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D5D8CB"/>
          </a:solidFill>
          <a:ln/>
          <a:effectLst>
            <a:outerShdw sx="100000" sy="100000" kx="0" ky="0" algn="bl" rotWithShape="0" blurRad="88900" dist="38100" dir="5400000">
              <a:srgbClr val="9AA8AD">
                <a:alpha val="4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1919"/>
                </a:solidFill>
              </a:rPr>
              <a:t>Settings to tweak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3774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919"/>
                </a:solidFill>
              </a:rPr>
              <a:t>PT_COLOR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91919"/>
                </a:solidFill>
              </a:rPr>
              <a:t>palette index for the points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91919"/>
                </a:solidFill>
              </a:rPr>
              <a:t>LAYER_ID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91919"/>
                </a:solidFill>
              </a:rPr>
              <a:t>which layer to draw 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91919"/>
                </a:solidFill>
              </a:rPr>
              <a:t>STRIDE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91919"/>
                </a:solidFill>
              </a:rPr>
              <a:t>thin a dense file on the fly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890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6868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37D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 -&gt;  visualize  -&gt;  refine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5720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5D8CB"/>
                </a:solidFill>
              </a:rPr>
              <a:t>Python writes the cloud; the macro shows it in FEMAP; you confirm the fit and iterate.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D233"/>
                </a:solidFill>
              </a:rPr>
              <a:t>Open items:  measured diameters for M4-M7 are provisional (5.905 in), and M2's thermal span is wider than its CAD diameter — a data reconciliation on your side.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talon">
  <a:themeElements>
    <a:clrScheme name="Attalon">
      <a:dk1>
        <a:srgbClr val="191919"/>
      </a:dk1>
      <a:lt1>
        <a:srgbClr val="FFFFFF"/>
      </a:lt1>
      <a:dk2>
        <a:srgbClr val="00890B"/>
      </a:dk2>
      <a:lt2>
        <a:srgbClr val="D5D8CB"/>
      </a:lt2>
      <a:accent1>
        <a:srgbClr val="37D233"/>
      </a:accent1>
      <a:accent2>
        <a:srgbClr val="00890B"/>
      </a:accent2>
      <a:accent3>
        <a:srgbClr val="191919"/>
      </a:accent3>
      <a:accent4>
        <a:srgbClr val="D5D8CB"/>
      </a:accent4>
      <a:accent5>
        <a:srgbClr val="00890B"/>
      </a:accent5>
      <a:accent6>
        <a:srgbClr val="37D233"/>
      </a:accent6>
      <a:hlink>
        <a:srgbClr val="00890B"/>
      </a:hlink>
      <a:folHlink>
        <a:srgbClr val="37D233"/>
      </a:folHlink>
    </a:clrScheme>
    <a:fontScheme name="Attalon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2026-10-24T18:19:27Z</dcterms:created>
  <dcterms:modified xsi:type="dcterms:W3CDTF">2026-10-24T18:19:27Z</dcterms:modified>
</cp:coreProperties>
</file>